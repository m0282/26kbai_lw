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286000"/>
          </a:xfrm>
          <a:prstGeom prst="rect">
            <a:avLst/>
          </a:prstGeom>
          <a:solidFill>
            <a:srgbClr val="645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FFFFFF"/>
                </a:solidFill>
                <a:latin typeface="맑은 고딕"/>
              </a:rPr>
              <a:t>금융상품 판매서류 컴플라이언스 검증 AI Copilot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FCAF17"/>
                </a:solidFill>
                <a:latin typeface="맑은 고딕"/>
              </a:rPr>
              <a:t>불완전판매 위험을 '판매 전에' 잡아내는 결정론적 검증 엔진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788920"/>
            <a:ext cx="105156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800" b="1">
                <a:solidFill>
                  <a:srgbClr val="645B4C"/>
                </a:solidFill>
                <a:latin typeface="맑은 고딕"/>
              </a:rPr>
              <a:t>한 건의 판매에는 서류가 4종 있습니다. 위반은 서류 하나가 아니라 서류 사이에서 드러납니다.</a:t>
            </a:r>
          </a:p>
          <a:p>
            <a:pPr algn="l">
              <a:spcAft>
                <a:spcPts val="2000"/>
              </a:spcAft>
            </a:pPr>
            <a:r>
              <a:rPr sz="1400" b="0">
                <a:solidFill>
                  <a:srgbClr val="2B2B2B"/>
                </a:solidFill>
                <a:latin typeface="맑은 고딕"/>
              </a:rPr>
              <a:t>적합성 진단표의 '안정형'과 상품설명서의 '1등급'은 각각 보면 정상입니다. 두 서류를 맞대어야 비로소 부적합 판매가 보입니다.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B6B"/>
                </a:solidFill>
                <a:latin typeface="맑은 고딕"/>
              </a:rPr>
              <a:t>제8회 KB Future Finance A.I. Challenge  |  팀명: 주식손절못함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문제 정의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서류 하나만 보면 원리적으로 잡을 수 없는 위반이 있다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문제 정의·필요성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463040"/>
            <a:ext cx="3520440" cy="214884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463040"/>
            <a:ext cx="54864" cy="214884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609344"/>
            <a:ext cx="306324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① 위반은 서류 사이에 있다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진단표: 고객 투자성향 '안정형'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상품설명서: 위험등급 '1등급'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→ 각 서류는 정상. 대조해야 위반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금소법 17조 적합성원칙 위반 소지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15968" y="1463040"/>
            <a:ext cx="3520440" cy="214884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15968" y="1463040"/>
            <a:ext cx="54864" cy="214884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609344"/>
            <a:ext cx="306324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② 사람이 눈으로 대조한다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판매 1건 = 서류 4종 교차 확인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고객 성향·상품 등급·설명일·계약일·서명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건수가 쌓이면 누락이 발생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사후 분쟁 시 입증 부담은 판매사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65008" y="1463040"/>
            <a:ext cx="3566160" cy="214884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65008" y="1463040"/>
            <a:ext cx="54864" cy="214884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21040" y="1609344"/>
            <a:ext cx="310896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③ 서류 형태가 제각각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전자 PDF · 스캔본 · 모바일 스크린샷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비대면은 확인서가 계약서에 통합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위험등급이 표 안 체크(✓)로만 표시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→ 텍스트 추출만으로는 못 읽는다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388620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불완전판매가 성립하면 판매사는 배상·제재를 부담합니다. 그런데 위반의 상당수는 '서류 간 불일치'라, 서류를 한 장씩 검토하는 방식으로는 구조적으로 놓칩니다.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B2B2B"/>
                </a:solidFill>
                <a:latin typeface="맑은 고딕"/>
              </a:rPr>
              <a:t>· 금융소비자보호법(2021 시행)은 적합성·설명의무 등 6대 판매원칙과 입증책임을 판매사에 부과합니다.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B2B2B"/>
                </a:solidFill>
                <a:latin typeface="맑은 고딕"/>
              </a:rPr>
              <a:t>· 비대면 채널이 늘며 서류가 전자·통합 양식으로 다양해져, 사람이 형태별로 확인하는 부담이 커졌습니다.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문제의 규모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불완전판매 민원은 급증했고, 그 비용은 이미 판매사가 치르고 있다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문제 정의·필요성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417320"/>
            <a:ext cx="2615184" cy="1600200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300"/>
              </a:spcAft>
            </a:pPr>
            <a:r>
              <a:rPr sz="2400" b="1">
                <a:solidFill>
                  <a:srgbClr val="C62828"/>
                </a:solidFill>
                <a:latin typeface="맑은 고딕"/>
              </a:rPr>
              <a:t>11만 6,338건</a:t>
            </a:r>
          </a:p>
          <a:p>
            <a:pPr algn="ctr">
              <a:spcAft>
                <a:spcPts val="200"/>
              </a:spcAft>
            </a:pPr>
            <a:r>
              <a:rPr sz="1200" b="1">
                <a:solidFill>
                  <a:srgbClr val="645B4C"/>
                </a:solidFill>
                <a:latin typeface="맑은 고딕"/>
              </a:rPr>
              <a:t>2024년 금융민원 총계</a:t>
            </a:r>
          </a:p>
          <a:p>
            <a:pPr algn="ctr"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맑은 고딕"/>
              </a:rPr>
              <a:t>전년 대비 +24%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83280" y="1417320"/>
            <a:ext cx="2615184" cy="1600200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300"/>
              </a:spcAft>
            </a:pPr>
            <a:r>
              <a:rPr sz="2400" b="1">
                <a:solidFill>
                  <a:srgbClr val="C62828"/>
                </a:solidFill>
                <a:latin typeface="맑은 고딕"/>
              </a:rPr>
              <a:t>+53.3%</a:t>
            </a:r>
          </a:p>
          <a:p>
            <a:pPr algn="ctr">
              <a:spcAft>
                <a:spcPts val="200"/>
              </a:spcAft>
            </a:pPr>
            <a:r>
              <a:rPr sz="1200" b="1">
                <a:solidFill>
                  <a:srgbClr val="645B4C"/>
                </a:solidFill>
                <a:latin typeface="맑은 고딕"/>
              </a:rPr>
              <a:t>은행 권역 민원 증가</a:t>
            </a:r>
          </a:p>
          <a:p>
            <a:pPr algn="ctr"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맑은 고딕"/>
              </a:rPr>
              <a:t>24,043건 · ELS 불완전판매가 주원인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99632" y="1417320"/>
            <a:ext cx="2615184" cy="1600200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300"/>
              </a:spcAft>
            </a:pPr>
            <a:r>
              <a:rPr sz="2400" b="1">
                <a:solidFill>
                  <a:srgbClr val="C62828"/>
                </a:solidFill>
                <a:latin typeface="맑은 고딕"/>
              </a:rPr>
              <a:t>+1,048%</a:t>
            </a:r>
          </a:p>
          <a:p>
            <a:pPr algn="ctr">
              <a:spcAft>
                <a:spcPts val="200"/>
              </a:spcAft>
            </a:pPr>
            <a:r>
              <a:rPr sz="1200" b="1">
                <a:solidFill>
                  <a:srgbClr val="645B4C"/>
                </a:solidFill>
                <a:latin typeface="맑은 고딕"/>
              </a:rPr>
              <a:t>펀드·방카슈랑스 민원 증가</a:t>
            </a:r>
          </a:p>
          <a:p>
            <a:pPr algn="ctr"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맑은 고딕"/>
              </a:rPr>
              <a:t>신탁은 +1,459%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015984" y="1417320"/>
            <a:ext cx="2615184" cy="1600200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300"/>
              </a:spcAft>
            </a:pPr>
            <a:r>
              <a:rPr sz="2400" b="1">
                <a:solidFill>
                  <a:srgbClr val="C62828"/>
                </a:solidFill>
                <a:latin typeface="맑은 고딕"/>
              </a:rPr>
              <a:t>약 1조 3,000억</a:t>
            </a:r>
          </a:p>
          <a:p>
            <a:pPr algn="ctr">
              <a:spcAft>
                <a:spcPts val="200"/>
              </a:spcAft>
            </a:pPr>
            <a:r>
              <a:rPr sz="1200" b="1">
                <a:solidFill>
                  <a:srgbClr val="645B4C"/>
                </a:solidFill>
                <a:latin typeface="맑은 고딕"/>
              </a:rPr>
              <a:t>홍콩 ELS 자율배상 규모</a:t>
            </a:r>
          </a:p>
          <a:p>
            <a:pPr algn="ctr"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맑은 고딕"/>
              </a:rPr>
              <a:t>5개 은행 합계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3291840"/>
            <a:ext cx="5394960" cy="214884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3291840"/>
            <a:ext cx="54864" cy="214884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438144"/>
            <a:ext cx="493776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이 문제는 KB국민은행이 직접 겪었습니다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홍콩H지수 ELS 불완전판매로 금감원 검사 대상이 된 5개 은행: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KB국민 · 신한 · 하나 · NH농협 · SC제일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과징금은 최초 약 4조원으로 산정된 뒤 논의를 거쳐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6,000억원 수준으로 조정 (2026.7 기준 심의 진행)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291840"/>
            <a:ext cx="5458968" cy="214884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3291840"/>
            <a:ext cx="54864" cy="214884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8232" y="3438144"/>
            <a:ext cx="5001768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제재 근거는 '판매 과정'입니다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금소법 제57조 — 위반 관련 계약으로 얻은 수입의 50% 이내 과징금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즉 상품이 손실을 냈다는 사실이 아니라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적합성·설명의무를 지켰는지가 제재를 가른다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→ 판매 시점의 서류가 곧 방어 근거이자 위험 지점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55778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맑은 고딕"/>
              </a:rPr>
              <a:t>출처: 금융감독원 2024년 금융민원 통계(2025.4 보도) · 홍콩 ELS 제재 관련 보도(2026.6~7). 과징금 규모는 심의 진행에 따라 변동될 수 있습니다.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실제 사건에 대입하면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홍콩 ELS 배상비율을 가른 항목이 곧 우리 검사 항목이다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활용 가능성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417320"/>
          <a:ext cx="1106424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371600"/>
                <a:gridCol w="3291840"/>
                <a:gridCol w="320040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홍콩 ELS 배상비율 산정 항목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배상 가산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대응하는 우리 검사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서류로 판단 가능한가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설명의무 위반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기본 20%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EXP-001 · DATE-001 · ACK-001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가능 — 설명 항목·설명일·서명 확인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적합성 원칙 위반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+10%p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FIT-001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가능 — 진단표 성향 ↔ 설명서 등급 대조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부당권유 금지 위반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+10%p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ADV-001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가능 — 원금보장·확정수익 표현 검출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고령자 보호기준 미준수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+15%p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REC-001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가능 — 녹취 의무 대상 여부 표시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66928" y="3977639"/>
            <a:ext cx="5394960" cy="210312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3977639"/>
            <a:ext cx="54864" cy="2103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123943"/>
            <a:ext cx="49377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우리 규칙은 임의로 고른 것이 아닙니다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실제 분쟁에서 배상비율을 결정한 네 가지 항목이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그대로 우리 검사 항목과 대응합니다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즉 '실무에서 문제가 된 지점'을 검사하도록 설계했습니다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설명의무는 3개 규칙으로 나눠 더 세밀하게 봅니다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3977639"/>
            <a:ext cx="5458968" cy="210312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72200" y="3977639"/>
            <a:ext cx="54864" cy="210312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28232" y="4123943"/>
            <a:ext cx="5001768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판매 시점에 걸렀다면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배상비율 산정 항목 = 판매 서류에 남는 흔적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성향과 등급의 불일치, 빠진 서명, 뒤집힌 날짜는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모두 계약 전에 확인할 수 있는 것들입니다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사후 배상 산정이 아니라 사전 차단이 목표입니다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1722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맑은 고딕"/>
              </a:rPr>
              <a:t>출처: 홍콩 ELS 분쟁조정 배상비율 산정기준 관련 보도(2024~2026). 배상비율은 개별 사안별로 달라집니다.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기존 접근과의 차별점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역대 본선 진출작은 모두 '문서 하나' 또는 '규정↔규정'을 본다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창의성·효과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417320"/>
          <a:ext cx="1106424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3657600"/>
                <a:gridCol w="3108960"/>
                <a:gridCol w="310896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회차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과제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검증 대상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우리와의 차이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4회 입상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「cheKB」 계약서 독소조항 검토 AI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계약서 1종 내부 조항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문서 간 대조 없음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4회 입상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「KB Sallow」 직원 맞춤 법률 비서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법령 검색·요약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제출 서류를 보지 않음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7회 입상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금융 규제·법규 준수 모니터링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내부규정 ↔ 변경 규제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고객 판매 건이 아님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제안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판매서류 컴플라이언스 Copilot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서류 4종 ↔ 서류 4종 ↔ 법령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문서 간 교차 검증 (신규)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66928" y="3977639"/>
            <a:ext cx="5394960" cy="214884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3977639"/>
            <a:ext cx="54864" cy="214884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123943"/>
            <a:ext cx="493776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왜 교차 검증이 창의적인가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단일 문서 분석으로는 '적합성 위반'을 정의할 수 없다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고객 정보(진단표)와 상품 정보(설명서)가 다른 문서에 있기 때문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설명일 &gt; 계약일(선후 역전)도 두 문서를 봐야 성립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→ 문제 자체가 교차 검증을 요구한다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3977639"/>
            <a:ext cx="5458968" cy="214884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72200" y="3977639"/>
            <a:ext cx="54864" cy="21488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28232" y="4123943"/>
            <a:ext cx="5001768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판정은 AI가 하지 않는다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LLM은 '읽기'만, 판정은 결정론적 규칙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같은 서류·같은 정책이면 언제나 같은 결과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규제 도구에서 재현 불가능한 판정은 쓸 수 없다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7회 입상작이 강조한 'XAI·근거 투명성'을 코드로 강제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솔루션 개요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판매 건 단위로 올리면, 8개 항목을 근거와 함께 판정한다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활용 가능성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508760"/>
            <a:ext cx="2615184" cy="251460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08760"/>
            <a:ext cx="54864" cy="251460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655064"/>
            <a:ext cx="2157984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① 판매 건별 업로드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상품 계약 1건 = 칸 1개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적합성 진단표 · 상품설명서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가입신청서 · 설명확인서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PDF · 스캔 · 스크린샷 모두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83280" y="1508760"/>
            <a:ext cx="2615184" cy="251460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383280" y="1508760"/>
            <a:ext cx="54864" cy="251460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39312" y="1655064"/>
            <a:ext cx="2157984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② 판독·구조화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텍스트 → OCR → AI 비전 단계 폴백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문서유형 자동 분류(수동 교정 가능)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판정에 필요한 값만 추출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원문에 없는 값은 폐기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9632" y="1508760"/>
            <a:ext cx="2615184" cy="251460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99632" y="1508760"/>
            <a:ext cx="54864" cy="251460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55664" y="1655064"/>
            <a:ext cx="2157984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③ 규칙 판정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8개 검사 항목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결정론적 규칙 = 재현 가능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통과 / 주의 / 누락 / 위험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가장 보수적인 값 기준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15984" y="1508760"/>
            <a:ext cx="2615184" cy="251460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015984" y="1508760"/>
            <a:ext cx="54864" cy="251460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72016" y="1655064"/>
            <a:ext cx="2157984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④ 근거 제시·기록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관련 법령 조문 자동 검색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서류 원문 위치 하이라이트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값의 출처(규칙/AI판독) 표시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검증 결과 JSON 내보내기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4343400"/>
            <a:ext cx="110642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누가 쓰는가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B2B2B"/>
                </a:solidFill>
                <a:latin typeface="맑은 고딕"/>
              </a:rPr>
              <a:t>· 창구·PB 담당자 — 판매 직후 '이 건에 빠진 서류·어긋난 값'을 즉시 확인해 사후 분쟁을 예방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B2B2B"/>
                </a:solidFill>
                <a:latin typeface="맑은 고딕"/>
              </a:rPr>
              <a:t>· 컴플라이언스 부서 — 판매 건을 모아 점검하고, 판정 근거와 조문이 담긴 기록을 남김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B2B2B"/>
                </a:solidFill>
                <a:latin typeface="맑은 고딕"/>
              </a:rPr>
              <a:t>· 도입 형태 — 사내 시스템에 붙는 검증 모듈. 판정 규칙은 KB 내부 기준으로 교체 가능하게 분리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업무 흐름 변화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기존 프로세스를 바꾸지 않고, 서류 작성과 마감 사이에 들어간다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활용 가능성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37160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6B6B6B"/>
                </a:solidFill>
                <a:latin typeface="맑은 고딕"/>
              </a:rPr>
              <a:t>AS-IS   현재 창구 업무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783080"/>
            <a:ext cx="2048256" cy="566928"/>
          </a:xfrm>
          <a:prstGeom prst="roundRect">
            <a:avLst/>
          </a:prstGeom>
          <a:solidFill>
            <a:srgbClr val="F2F0EB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상담·권유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816352" y="1783080"/>
            <a:ext cx="2048256" cy="566928"/>
          </a:xfrm>
          <a:prstGeom prst="roundRect">
            <a:avLst/>
          </a:prstGeom>
          <a:solidFill>
            <a:srgbClr val="F2F0EB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서류 4종 작성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65776" y="1783080"/>
            <a:ext cx="2048256" cy="566928"/>
          </a:xfrm>
          <a:prstGeom prst="roundRect">
            <a:avLst/>
          </a:prstGeom>
          <a:solidFill>
            <a:srgbClr val="F2F0EB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직원이 육안 대조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0" y="1783080"/>
            <a:ext cx="2048256" cy="566928"/>
          </a:xfrm>
          <a:prstGeom prst="roundRect">
            <a:avLst/>
          </a:prstGeom>
          <a:solidFill>
            <a:srgbClr val="F2F0EB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마감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564624" y="1783080"/>
            <a:ext cx="2048256" cy="566928"/>
          </a:xfrm>
          <a:prstGeom prst="roundRect">
            <a:avLst/>
          </a:prstGeom>
          <a:solidFill>
            <a:srgbClr val="F2F0EB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컴플라이언스 표본 점검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2450592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C62828"/>
                </a:solidFill>
                <a:latin typeface="맑은 고딕"/>
              </a:rPr>
              <a:t>· 건수가 쌓이면 육안 대조에서 누락이 생깁니다   · 컴플라이언스는 표본만 봅니다 — 전건 확인이 불가능합니다   · 문제를 발견해도 이미 계약이 끝난 뒤입니다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338328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TO-BE   제안 시스템 적용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794760"/>
            <a:ext cx="2048256" cy="566928"/>
          </a:xfrm>
          <a:prstGeom prst="roundRect">
            <a:avLst/>
          </a:prstGeom>
          <a:solidFill>
            <a:srgbClr val="F2F0EB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상담·권유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816352" y="3794760"/>
            <a:ext cx="2048256" cy="566928"/>
          </a:xfrm>
          <a:prstGeom prst="roundRect">
            <a:avLst/>
          </a:prstGeom>
          <a:solidFill>
            <a:srgbClr val="F2F0EB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서류 4종 작성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65776" y="3794760"/>
            <a:ext cx="2048256" cy="56692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645B4C"/>
                </a:solidFill>
                <a:latin typeface="맑은 고딕"/>
              </a:rPr>
              <a:t>자동 검증 (약 50초)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0" y="3794760"/>
            <a:ext cx="2048256" cy="56692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645B4C"/>
                </a:solidFill>
                <a:latin typeface="맑은 고딕"/>
              </a:rPr>
              <a:t>이상 시 즉시 보완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564624" y="3794760"/>
            <a:ext cx="2048256" cy="56692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645B4C"/>
                </a:solidFill>
                <a:latin typeface="맑은 고딕"/>
              </a:rPr>
              <a:t>전건 기록 자동 축적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617720"/>
            <a:ext cx="3520440" cy="150876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66928" y="4617720"/>
            <a:ext cx="54864" cy="150876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4764024"/>
            <a:ext cx="306324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표본 점검 → 전건 점검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사람이 못 보던 건까지 기계가 일관되게 확인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누락 없이 모든 판매 건에 같은 기준 적용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15968" y="4617720"/>
            <a:ext cx="3520440" cy="150876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315968" y="4617720"/>
            <a:ext cx="54864" cy="150876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0" y="4764024"/>
            <a:ext cx="306324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사후 적발 → 사전 예방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계약 완료 전에 보완 기회를 준다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분쟁·배상으로 가기 전에 차단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65008" y="4617720"/>
            <a:ext cx="3566160" cy="150876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065008" y="4617720"/>
            <a:ext cx="54864" cy="150876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21040" y="4764024"/>
            <a:ext cx="310896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기록이 자동으로 남는다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판정 근거·조문·검증 시각을 함께 보관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사후 입증 자료로 그대로 사용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아키텍처: LLM은 읽고, 규칙이 판정한다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읽기와 판정 사이에 '검증 계층'을 둔다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기술 적정성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371600"/>
          <a:ext cx="11064240" cy="1975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3566160"/>
                <a:gridCol w="1463040"/>
                <a:gridCol w="484632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계층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역할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LLM 관여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구성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① 판독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비정형 서류 → 텍스트·좌표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폴백 시에만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PyMuPDF · Tesseract OCR · LLM 비전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② 추출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판정에 필요한 값만 구조화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있음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Claude Haiku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③ 검증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읽은 값이 원문에 실제로 있는지 대조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없음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원문 대조 · 문서유형 게이팅 · 고정 스키마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④ 판정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위반 여부 결정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없음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결정론적 규칙 8종 (Python)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⑤ 근거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조문·원문 위치 제시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쟁점 설명만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규칙별 확정 근거 조문 · 적용 조항 형광 표시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66928" y="3886200"/>
            <a:ext cx="5394960" cy="224028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3886200"/>
            <a:ext cx="54864" cy="224028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032504"/>
            <a:ext cx="493776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LLM은 판정을 바꿀 수 없다 — 구조적으로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판정 모듈에 LLM 관련 코드 0건 (순수 Python)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판정 함수에 LLM 인자 자체가 없음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LLM이 만드는 객체에 '판정' 필드가 없음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→ 바꾸고 싶어도 손댈 지점이 없다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3886200"/>
            <a:ext cx="5458968" cy="2240280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4041648"/>
            <a:ext cx="50292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300" b="1">
                <a:solidFill>
                  <a:srgbClr val="645B4C"/>
                </a:solidFill>
                <a:latin typeface="맑은 고딕"/>
              </a:rPr>
              <a:t>실측 · 같은 서류를 2회 검증 (캐시 off, LLM 실호출 8건×2)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6B6B6B"/>
                </a:solidFill>
                <a:latin typeface="맑은 고딕"/>
              </a:rPr>
              <a:t>LLM이 쓴 설명 문구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2B2B2B"/>
                </a:solidFill>
                <a:latin typeface="맑은 고딕"/>
              </a:rPr>
              <a:t>1회차 "안정형(6등급만 가입 가능)이나 상품은 1등급…"</a:t>
            </a:r>
          </a:p>
          <a:p>
            <a:pPr algn="l">
              <a:spcAft>
                <a:spcPts val="600"/>
              </a:spcAft>
            </a:pPr>
            <a:r>
              <a:rPr sz="1000" b="0">
                <a:solidFill>
                  <a:srgbClr val="2B2B2B"/>
                </a:solidFill>
                <a:latin typeface="맑은 고딕"/>
              </a:rPr>
              <a:t>2회차 "'안정형'(위험 감내도 최저)이나 위험등급은…"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6B6B6B"/>
                </a:solidFill>
                <a:latin typeface="맑은 고딕"/>
              </a:rPr>
              <a:t>→ 문구는 매번 달랐으나</a:t>
            </a:r>
          </a:p>
          <a:p>
            <a:pPr algn="l">
              <a:spcAft>
                <a:spcPts val="0"/>
              </a:spcAft>
            </a:pPr>
            <a:r>
              <a:rPr sz="1500" b="1">
                <a:solidFill>
                  <a:srgbClr val="2E7D32"/>
                </a:solidFill>
                <a:latin typeface="맑은 고딕"/>
              </a:rPr>
              <a:t>판정 8개는 완전히 동일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왜 이 구조인가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다른 방식을 검토하고 배제한 근거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기술 적정성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417320"/>
          <a:ext cx="11064240" cy="1975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4937760"/>
                <a:gridCol w="347472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대안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배제 이유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근거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LLM이 판정까지 수행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같은 입력에도 결과가 흔들려 감사·재현이 불가능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실측 — 같은 판정에도 설명 문구가 매번 달랐음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전용 모델 파인튜닝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실제 판매서류는 개인정보라 학습 데이터 확보 불가. 규정 개정 시마다 재학습 필요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규정은 조문 텍스트로 관리하는 편이 갱신에 유리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RAG(법령 검색)만 구성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조문은 찾아주지만 서류에서 값을 뽑아 문서 간 대조하지 못함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적합성 위반은 두 문서를 맞대야 성립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규칙만 사용 (LLM 없이)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비정형 서류에서 문서유형·필드를 읽지 못함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실측 — 실물 22건에서 규칙 분류가 전부 확신 실패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채택: LLM 판독 + 규칙 판정 + 원문 대조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읽기는 LLM이 잘하고, 판정은 재현 가능해야 한다 — 역할을 분리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실물 25건 전수 감사 이상 0건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66928" y="4480560"/>
            <a:ext cx="1106424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4480560"/>
            <a:ext cx="54864" cy="160020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626864"/>
            <a:ext cx="1060704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핵심 판단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컴플라이언스 도구는 '정확도가 높은 모델'보다 '틀렸을 때 드러나는 구조'가 중요합니다.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LLM이 값을 잘못 읽으면 판정도 틀립니다 — 그래서 읽기와 판정 사이에 원문 대조 계층을 두었습니다.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실제로 LLM이 위험등급을 '5등급'으로 지어냈을 때(원문에는 6등급만 존재) 이 계층이 잡아냈습니다.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핵심 기술 ①  AI가 지어낸 값을 판정에 쓰지 않는다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실물 서류에서 실제로 발생한 오류와, 이를 막은 방식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기술 적정성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417320"/>
          <a:ext cx="11064240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2834640"/>
                <a:gridCol w="3200400"/>
                <a:gridCol w="201168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실제 발생한 오류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원문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방어 장치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결과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LLM이 위험등급 '5등급' 생성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원문에는 6등급만 존재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원문 대조 후 미존재 값 폐기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6등급으로 교정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상품명에 '(주가연계증권)' 삽입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'제 23129호 파생결합증권(ELS)'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원문 표기로 복원, 겹침 부족 시 폐기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원문 표기 채택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설명확인서를 상품설명서로 오분류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제목이 '상품설명 확인서'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규칙 분류가 확신하면 LLM보다 우선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고객확인·설명일 복구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약관의 '서명' 문구를 확인으로 오인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서명란은 실제로 공란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페이지 이미지에서 서명 유무 판독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미서명 적발 가능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진단표의 진단일을 설명일로 오인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'투자성향 2026-07-24 기준'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유형별 고정 스키마에서 설명일 제외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회차 간 판정 흔들림 제거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비전이 '등급 못 찾음'을 등급으로 읽음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'표시 없음(1~6 중 판단 불가)'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답변이 등급 하나일 때만 채택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1등급 오판 차단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두 자리 연도를 서기 26년으로 읽음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'26.07.15'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세기를 지어내지 않고 형식 경고로 남김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계약 이후 설명 적발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66928" y="4114800"/>
            <a:ext cx="352044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4114800"/>
            <a:ext cx="54864" cy="201168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261104"/>
            <a:ext cx="30632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1차 · 원문 대조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추출값이 원문에 실제로 있는지 확인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없으면 채택하지 않고 '미확인'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오판보다 미확인이 안전하다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5968" y="4114800"/>
            <a:ext cx="352044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15968" y="4114800"/>
            <a:ext cx="54864" cy="201168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4261104"/>
            <a:ext cx="30632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2차 · 문서유형 게이팅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상품설명서에 계약일은 없다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→ 발행일을 계약일로 오인 차단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유형별로 가능한 필드를 고정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65008" y="4114800"/>
            <a:ext cx="356616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65008" y="4114800"/>
            <a:ext cx="54864" cy="201168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40" y="4261104"/>
            <a:ext cx="31089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3차 · 고정 스키마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같은 양식이면 항상 같은 필드 목록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판독 회차마다 값이 달라질 수 있는 필드는 서류 유형별 고정 스키마로 차단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실측: 캐시 없이 3회 재판독 → 회차 간 불일치 0건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핵심 기술 ②  어떤 형태로 와도 읽는다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텍스트 → OCR → AI 비전 단계 폴백 (필요할 때만 호출)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기술 실현 가능성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417320"/>
          <a:ext cx="11064240" cy="1975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3108960"/>
                <a:gridCol w="2103120"/>
                <a:gridCol w="274320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서류 형태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1차 판독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폴백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실측 결과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전자 PDF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텍스트 레이어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정상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스캔 PDF · 종이 촬영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Tesseract OCR(한국어)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AI 비전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분류·서명·날짜 모두 원본과 동일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모바일 다크모드 스크린샷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OCR 오독('투자성향'→'투자성양')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AI 비전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'적극투자형' 정확 판독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위험등급이 표 체크(✓)로만 표시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텍스트 공란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AI 비전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4등급·6등급 정확 판독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계약일이 표에 분리 기재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'년 월 일 24 07 2026'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AI 비전 + 원문 대조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2026-07-24 채택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66928" y="4297680"/>
            <a:ext cx="539496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4297680"/>
            <a:ext cx="54864" cy="18288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443984"/>
            <a:ext cx="49377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비용을 쓰지 않는 설계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비전은 앞 단계가 실패했을 때만 호출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한 페이지에 필요한 항목을 한 번에 질문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결과 캐시로 같은 서류 재검증은 0원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실측: 패키지 1건당 약 76원 (모델 승격 0회)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4297680"/>
            <a:ext cx="5458968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72200" y="4297680"/>
            <a:ext cx="54864" cy="18288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28232" y="4443984"/>
            <a:ext cx="5001768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개인정보 최소화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생년월일·계좌번호는 애초에 추출하지 않음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비전 프롬프트에서 개인정보 출력을 금지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원본 파일은 디스크에 저장하지 않음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판독 캐시 즉시 삭제 기능 제공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검사 항목 8종과 근거 조문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무엇을 검사하는지, 그리고 무엇을 검사하지 않는지 밝힌다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기술 적정성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371600"/>
          <a:ext cx="11064240" cy="29626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5486400"/>
                <a:gridCol w="2103120"/>
                <a:gridCol w="219456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규칙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검사 내용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근거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한 문서로 가능?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FIT-001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고객 투자성향 ↔ 상품 위험등급 적합성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금소법 17조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불가 (교차)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EXP-001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원금손실·위험등급·수수료 설명 존재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금소법 19조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가능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DATE-001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설명일이 계약일보다 선행하는지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금소법 19조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불가 (교차)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ACK-001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고객 설명 확인·서명 증빙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금소법 19조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가능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PKG-001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서류 간 상품명·상품코드 동일성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금소법 19조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불가 (교차)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ADV-001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원금보장·확정수익 등 부당권유 표현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금소법 21조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가능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DOC-001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판매서류 4종 구비 여부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금소법 23조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불가 (교차)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REC-001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녹취 의무 대상 여부(고위험·고령·부적합)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금소법 28조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가능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5074920"/>
            <a:ext cx="11064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645B4C"/>
                </a:solidFill>
                <a:latin typeface="맑은 고딕"/>
              </a:rPr>
              <a:t>판매서류로 검증할 수 있는 판매원칙은 3개이고, 그 3개를 모두 덮었습니다.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나머지 3개는 서류 밖의 정보를 요구합니다 — 적정성(18조)은 '권유 없이 청약했는지'(판매채널 기록), 불공정영업(20조)은 '다른 상품 끼워팔기'(거래 이력), 광고(22조)는 광고물 자체가 검사 대상입니다.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여기에 6대 원칙 밖의 의무인 계약서류 제공(23조)·자료 기록 유지(28조)까지 검사합니다. 녹취(REC-001)는 음성을 판독하지 않고 '녹취가 필요한 건인지'만 표시합니다.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검사 범위를 어떻게 잡았나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금소법 73개 조문 중 '판매서류로 검증할 수 있는 것'만 남긴다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기술 적정성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417320"/>
          <a:ext cx="530352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146304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금소법 조문 성격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조문 수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판매행위 규제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정의 · 총칙 · 부칙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감독 · 검사 · 제재 · 과징금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분쟁조정 · 소송 · 소비자 권리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판매업자 자격 · 등록 · 조직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합계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080760" y="1417320"/>
          <a:ext cx="5550408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1435608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판매행위 규제 10개 조문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우리 검사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17 적합성 · 19 설명의무 · 21 부당권유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커버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23 계약서류 제공 · 28 자료 기록 유지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커버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18 적정성 (권유 여부 정보 필요)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서류 밖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20 불공정영업 (타 상품 거래 이력 필요)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서류 밖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22 광고 (광고물이 검사 대상)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서류 밖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46 청약철회 · 47 위법계약해지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판매 이후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66928" y="4160520"/>
            <a:ext cx="5303520" cy="192024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4160520"/>
            <a:ext cx="54864" cy="192024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4306824"/>
            <a:ext cx="4846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분모는 73이 아니라 10입니다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63개 조문은 정의·감독절차·분쟁조정 등으로,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판매 시점 서류로 검증할 대상이 아닙니다.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판매행위 규제 10개 중 '판매 시점에 서류만으로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확인 가능한 5개'를 모두 검사합니다.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80760" y="4160520"/>
            <a:ext cx="5550408" cy="192024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080760" y="4160520"/>
            <a:ext cx="54864" cy="19202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36792" y="4306824"/>
            <a:ext cx="5093208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넓게 얕게가 아니라, 좁게 깊게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설명의무(19조) 하나를 3개 규칙으로 나눠 봅니다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  EXP-001 설명 항목이 실제로 있는가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  DATE-001 설명이 계약보다 먼저였는가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  ACK-001 고객 확인·서명이 실재하는가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검증 결과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실제 금융사 서류로 검증했고, 회귀 테스트로 고정했다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기술 실현 가능성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463040"/>
            <a:ext cx="2615184" cy="1463040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25건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2B2B2B"/>
                </a:solidFill>
                <a:latin typeface="맑은 고딕"/>
              </a:rPr>
              <a:t>실물 서류 전수 감사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2B2B2B"/>
                </a:solidFill>
                <a:latin typeface="맑은 고딕"/>
              </a:rPr>
              <a:t>이상 0건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83280" y="1463040"/>
            <a:ext cx="2615184" cy="1463040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83건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2B2B2B"/>
                </a:solidFill>
                <a:latin typeface="맑은 고딕"/>
              </a:rPr>
              <a:t>자동화 회귀 테스트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2B2B2B"/>
                </a:solidFill>
                <a:latin typeface="맑은 고딕"/>
              </a:rPr>
              <a:t>전부 통과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99632" y="1463040"/>
            <a:ext cx="2615184" cy="1463040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1가지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2B2B2B"/>
                </a:solidFill>
                <a:latin typeface="맑은 고딕"/>
              </a:rPr>
              <a:t>업로드 순서 24가지 →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2B2B2B"/>
                </a:solidFill>
                <a:latin typeface="맑은 고딕"/>
              </a:rPr>
              <a:t>판정 조합 1가지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015984" y="1463040"/>
            <a:ext cx="2615184" cy="1463040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0건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2B2B2B"/>
                </a:solidFill>
                <a:latin typeface="맑은 고딕"/>
              </a:rPr>
              <a:t>교차 모델 판정 불일치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2B2B2B"/>
                </a:solidFill>
                <a:latin typeface="맑은 고딕"/>
              </a:rPr>
              <a:t>(haiku vs sonnet)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66928" y="3200400"/>
          <a:ext cx="11064240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5760720"/>
                <a:gridCol w="310896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검증 항목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방법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결과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B2B2B"/>
                          </a:solidFill>
                          <a:latin typeface="맑은 고딕"/>
                        </a:rPr>
                        <a:t>실물 서류 커버리지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B2B2B"/>
                          </a:solidFill>
                          <a:latin typeface="맑은 고딕"/>
                        </a:rPr>
                        <a:t>5개 운용·증권사 / ETF·채권·MMF·ELS·DLS / 위험등급 1~6 / 전자·스캔·스크린샷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B2B2B"/>
                          </a:solidFill>
                          <a:latin typeface="맑은 고딕"/>
                        </a:rPr>
                        <a:t>25건 전수 감사, 이상 징후 0건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B2B2B"/>
                          </a:solidFill>
                          <a:latin typeface="맑은 고딕"/>
                        </a:rPr>
                        <a:t>판정 재현성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B2B2B"/>
                          </a:solidFill>
                          <a:latin typeface="맑은 고딕"/>
                        </a:rPr>
                        <a:t>동일 패키지를 업로드 순서 24가지로 반복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B2B2B"/>
                          </a:solidFill>
                          <a:latin typeface="맑은 고딕"/>
                        </a:rPr>
                        <a:t>판정 조합 1가지 (순서 무관)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B2B2B"/>
                          </a:solidFill>
                          <a:latin typeface="맑은 고딕"/>
                        </a:rPr>
                        <a:t>판독 재현성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B2B2B"/>
                          </a:solidFill>
                          <a:latin typeface="맑은 고딕"/>
                        </a:rPr>
                        <a:t>캐시를 끄고 실물 서류를 3회 재판독해 필드 비교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B2B2B"/>
                          </a:solidFill>
                          <a:latin typeface="맑은 고딕"/>
                        </a:rPr>
                        <a:t>회차 간 불일치 0건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B2B2B"/>
                          </a:solidFill>
                          <a:latin typeface="맑은 고딕"/>
                        </a:rPr>
                        <a:t>점검에 쓰지 않은 자료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B2B2B"/>
                          </a:solidFill>
                          <a:latin typeface="맑은 고딕"/>
                        </a:rPr>
                        <a:t>KB·삼성·미래에셋·신한·대우 실물 23건으로 재검증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B2B2B"/>
                          </a:solidFill>
                          <a:latin typeface="맑은 고딕"/>
                        </a:rPr>
                        <a:t>위험등급 10/10 일치 · 부당권유 오탐 0건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B2B2B"/>
                          </a:solidFill>
                          <a:latin typeface="맑은 고딕"/>
                        </a:rPr>
                        <a:t>근거 조문 안정성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B2B2B"/>
                          </a:solidFill>
                          <a:latin typeface="맑은 고딕"/>
                        </a:rPr>
                        <a:t>규칙마다 검색어를 바꿔 근거 조문 비교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B2B2B"/>
                          </a:solidFill>
                          <a:latin typeface="맑은 고딕"/>
                        </a:rPr>
                        <a:t>8종 전부 불변(확정 선언)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B2B2B"/>
                          </a:solidFill>
                          <a:latin typeface="맑은 고딕"/>
                        </a:rPr>
                        <a:t>모델 의존성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B2B2B"/>
                          </a:solidFill>
                          <a:latin typeface="맑은 고딕"/>
                        </a:rPr>
                        <a:t>haiku · sonnet 교차 실행 후 판정 임계 필드 비교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B2B2B"/>
                          </a:solidFill>
                          <a:latin typeface="맑은 고딕"/>
                        </a:rPr>
                        <a:t>불일치 0건 (저가 모델로 충분)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B2B2B"/>
                          </a:solidFill>
                          <a:latin typeface="맑은 고딕"/>
                        </a:rPr>
                        <a:t>오탐 통제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B2B2B"/>
                          </a:solidFill>
                          <a:latin typeface="맑은 고딕"/>
                        </a:rPr>
                        <a:t>정상 서류 17건에 부당권유 검사(ADV-001) 적용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B2B2B"/>
                          </a:solidFill>
                          <a:latin typeface="맑은 고딕"/>
                        </a:rPr>
                        <a:t>오탐 0건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정량 효과와 운영 비용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검증 시간과 API 비용을 실측 기준으로 제시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활용 가능성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463040"/>
          <a:ext cx="1106424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2926080"/>
                <a:gridCol w="2743200"/>
                <a:gridCol w="246888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구분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수작업 기준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제안 시스템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비고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판매 건 1건(서류 4종) 검증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약 60분 (문서당 15분 가정)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약 50초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첫 처리 실측 (LLM 판독 + 법령 API 포함)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재검증(같은 서류)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동일 시간 재소요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즉시 · API 비용 0원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결과 캐시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API 비용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약 76원 / 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Claude Haiku 실측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일 3,000건 환산(가정)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약 3,000시간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약 23만원 / 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규모 추정치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66928" y="3749039"/>
            <a:ext cx="5394960" cy="233172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3749039"/>
            <a:ext cx="54864" cy="23317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895343"/>
            <a:ext cx="493776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비용이 낮은 이유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판정은 코드가 하므로 LLM 호출이 적다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비전은 앞 단계가 실패했을 때만 호출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모델 승격(고가 모델) 발동 0회 — 저가 모델로 충분함을 교차 검증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동일 서류 재검증은 캐시로 0원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3749039"/>
            <a:ext cx="5458968" cy="233172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72200" y="3749039"/>
            <a:ext cx="54864" cy="233172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28232" y="3895343"/>
            <a:ext cx="5001768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효과는 시간 단축만이 아니다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사람이 놓치기 쉬운 '서류 간 불일치'를 기계가 일관되게 확인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판정 근거(조문·원문 위치)가 함께 남아 사후 입증에 사용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검증 시각·모델·적용 정책을 기록으로 보관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검사 범위를 명시해 과신을 방지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시연 시나리오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위반을 심어둔 패키지는 전부 적발하고, 정상 건은 통과시킨다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창의성·효과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371600"/>
          <a:ext cx="548640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2103120"/>
                <a:gridCol w="164592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검사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위반 심은 패키지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실제 정상 거래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FIT-001 적합성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위험 (안정형 · 1등급)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통과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DATE-001 선후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위험 (설명 07-15 &gt; 계약 07-12)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통과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ACK-001 확인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위험 (미서명)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주의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ADV-001 부당권유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통과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통과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DOC-001 서류구비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통과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주의(비대면 통합)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REC-001 녹취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주의 (고위험·부적합)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통과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6" name="Picture 5" descr="01_판정요약.png"/>
          <p:cNvPicPr>
            <a:picLocks noChangeAspect="1"/>
          </p:cNvPicPr>
          <p:nvPr/>
        </p:nvPicPr>
        <p:blipFill>
          <a:blip r:embed="rId2"/>
          <a:srcRect l="19000" b="51334"/>
          <a:stretch>
            <a:fillRect/>
          </a:stretch>
        </p:blipFill>
        <p:spPr>
          <a:xfrm>
            <a:off x="6355080" y="1371600"/>
            <a:ext cx="5276088" cy="23774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355080" y="1371600"/>
            <a:ext cx="5276088" cy="2377440"/>
          </a:xfrm>
          <a:prstGeom prst="roundRect">
            <a:avLst/>
          </a:prstGeom>
          <a:noFill/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04_하이라이트.png"/>
          <p:cNvPicPr>
            <a:picLocks noChangeAspect="1"/>
          </p:cNvPicPr>
          <p:nvPr/>
        </p:nvPicPr>
        <p:blipFill>
          <a:blip r:embed="rId3"/>
          <a:srcRect l="19000" t="4620" b="46714"/>
          <a:stretch>
            <a:fillRect/>
          </a:stretch>
        </p:blipFill>
        <p:spPr>
          <a:xfrm>
            <a:off x="6355080" y="3794760"/>
            <a:ext cx="5276088" cy="23774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355080" y="3794760"/>
            <a:ext cx="5276088" cy="2377440"/>
          </a:xfrm>
          <a:prstGeom prst="roundRect">
            <a:avLst/>
          </a:prstGeom>
          <a:noFill/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3977639"/>
            <a:ext cx="54864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오탐을 내지 않는 것이 핵심입니다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실제 KB 판매 건을 넣으면 위험 0건으로 통과합니다. 위반을 심은 건만 정확히 잡습니다.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컴플라이언스 도구는 '다 잡아내는 것'보다 '정상을 정상이라 말하는 것'이 도입 가능성을 좌우합니다.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실제 화면 — 조문에서 걸리는 부분까지 짚는다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조문 전체를 던지면 '그래서 어디가 문제냐'에 답하지 못한다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창의성·효과</a:t>
            </a:r>
          </a:p>
        </p:txBody>
      </p:sp>
      <p:pic>
        <p:nvPicPr>
          <p:cNvPr id="5" name="Picture 4" descr="02_근거조문.png"/>
          <p:cNvPicPr>
            <a:picLocks noChangeAspect="1"/>
          </p:cNvPicPr>
          <p:nvPr/>
        </p:nvPicPr>
        <p:blipFill>
          <a:blip r:embed="rId2"/>
          <a:srcRect l="19000" t="2137" b="40610"/>
          <a:stretch>
            <a:fillRect/>
          </a:stretch>
        </p:blipFill>
        <p:spPr>
          <a:xfrm>
            <a:off x="566928" y="1371600"/>
            <a:ext cx="7589520" cy="40233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66928" y="1371600"/>
            <a:ext cx="7589520" cy="4023360"/>
          </a:xfrm>
          <a:prstGeom prst="roundRect">
            <a:avLst/>
          </a:prstGeom>
          <a:noFill/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366760" y="1371600"/>
            <a:ext cx="3264408" cy="402336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366760" y="1371600"/>
            <a:ext cx="54864" cy="402336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22792" y="1517904"/>
            <a:ext cx="2807208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이 화면이 말하는 것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규칙마다 근거 조문을 확정 선언 — 검색어가 바뀌어도 근거가 흔들리지 않는다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조문에서 규칙이 걸리는 항만 뽑아 문구를 형광 표시 (조문 전체의 6~30%)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법률 조문과 그 위임을 받은 감독규정을 함께 제시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적용 조항이 내보내기 파일에도 같이 담긴다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55321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녹취 의무(REC-001) 판정에 금소법 제28조와 감독규정 제25조가 함께 붙고, 각 조문에서 '자료를 기록'·'멸실 또는 위조'·'고시하는 기간(5년)'이 형광으로 표시됩니다 — 담당자는 화면을 벗어나지 않고 무엇을 확인해야 하는지 압니다.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한계와 대응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검사하지 못하는 것을 검사한 척하지 않는다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기술 실현 가능성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371600"/>
          <a:ext cx="11064240" cy="1975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560320"/>
                <a:gridCol w="3840480"/>
                <a:gridCol w="237744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한계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왜 생기는가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현재 대응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향후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녹취 음성을 판독하지 못함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입력이 문서(PDF·이미지)로 한정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REC-001로 '녹취 의무 대상 여부'만 표시하고, 음성 미판독을 화면에 명시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본선: STT 연동해 낭독·동의 확인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6대 원칙 중 3개(18·20·22조)는 미검사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판매서류만으로는 판단에 필요한 정보가 없음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검사 범위(17·19·21·23·28조)를 화면에 명시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판매채널·거래이력 연계 시 확장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판정 매트릭스가 MVP 예시값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실제 기준은 회사 내부 규정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정책을 코드에서 분리해 파라미터로 주입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KB 내부 적합성 기준으로 교체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문서유형 오분류 가능성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실물 서류는 어휘가 섞여 규칙 분류가 확신하지 못함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규칙이 확신할 때만 LLM보다 우선 + 검토자가 화면에서 수동 교정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유형 판별 정확도 별도 측정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외부 LLM API에 서류를 전송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비정형 판독에 필요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개인정보 미추출·마스킹 프롬프트·판독 캐시 즉시 삭제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사내망 LLM으로 대체 가능한 구조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525780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한계를 감추면 도구를 신뢰할 수 없습니다.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B2B2B"/>
                </a:solidFill>
                <a:latin typeface="맑은 고딕"/>
              </a:rPr>
              <a:t>이 시스템은 확인하지 못한 값을 '미확인'으로 드러내고, 검사하지 않는 조항을 화면에 밝힙니다. 판정을 내리지 못하는 상황에서 그럴듯한 답을 내놓는 것이 컴플라이언스에서는 가장 위험합니다.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개발 계획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예선 제출본은 여기서 고정하고, 본선 진출 시 단계별로 확장합니다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개발 계획의 구체성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371600"/>
          <a:ext cx="11064240" cy="1975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1920240"/>
                <a:gridCol w="4572000"/>
                <a:gridCol w="283464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단계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과제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내용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검증 방법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예선 제출 (완료·고정)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핵심 파이프라인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판독 3단 폴백 · 규칙 8종 · 근거 조문 · 하이라이트 · 결과 내보내기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실물 25건 + 미사용 23건 · 테스트 83건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본선 1단계
진출 후 ~2주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녹취 검증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음성 업로드 + STT로 '원금손실 낭독 → 고객 동의' 확인 (현재 미검사 영역)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샘플 녹취로 문구 검출률 측정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본선 2단계
~4주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검사 범위 확대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적정성(18조)·불공정영업(20조)은 판매채널·거래이력 연계가 전제 — 연계 가능 시 규칙 추가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규칙별 회귀 테스트 · 정상 서류 오탐 0 유지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본선 3단계
~6주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규모 대응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판매 건 배치 검증 · 기간별 위반 통계 · 부서별 리포트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수백 건 배치 처리 시간·정확도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도입 준비
PoC 협의 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은행 환경 정합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판정 기준을 KB 내부 매트릭스로 교체 · 사내 LLM 대체 · 개인정보 마스킹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내부 기준 대조 · 마스킹 후 재현성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5029200"/>
            <a:ext cx="11064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645B4C"/>
                </a:solidFill>
                <a:latin typeface="맑은 고딕"/>
              </a:rPr>
              <a:t>설계상 확장이 쉬운 이유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· 규칙 1개 = 함수 1개. 서류를 받아 판정 하나를 돌려주는 구조라, 규칙 추가가 다른 규칙에 영향을 주지 않습니다.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· 법령 조문은 국가법령정보 API로 이미 수집돼 있어(금소법 73개 조문 포함) 추가 수집 없이 규칙을 늘릴 수 있습니다.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개발 체계 · 필요 자원 · 리스크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누가 무엇을 맡고, 도입에 무엇이 필요하며, 무엇이 틀어질 수 있는지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개발 계획의 구체성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3520440" cy="246888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54864" cy="246888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517904"/>
            <a:ext cx="3063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역할 분담 (2인)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Track A — src/ingest · src/verify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   법령 수집 · 판정 규칙 · 근거 조문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Track B — src/parser · app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   서류 판독 · 검증 화면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공용 — schemas.py (변경 시 단독 PR)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상대 모듈은 Issue로 요청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15968" y="1371600"/>
            <a:ext cx="3520440" cy="246888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15968" y="1371600"/>
            <a:ext cx="54864" cy="246888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517904"/>
            <a:ext cx="3063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품질을 고정하는 방식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인터페이스 계약 1곳 → 병렬 개발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규칙 1개 = 함수 1개 · 작은 PR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발견한 오류는 회귀 테스트로 고정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   테스트 45건 → 83건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실물 서류 전수 감사로 회귀 확인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재현성: 순서·회차·모델 교차 측정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65008" y="1371600"/>
            <a:ext cx="3566160" cy="246888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65008" y="1371600"/>
            <a:ext cx="54864" cy="246888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21040" y="1517904"/>
            <a:ext cx="31089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도입에 필요한 것 (KB 협조)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판매채널·거래이력 연계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   18조·20조 검사의 전제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상품 등급 ↔ 고객 성향 내부 매트릭스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사내 LLM 또는 폐쇄망 추론 환경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은행 고유 판매서류 양식 샘플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→ 없어도 현재 8개 항목은 그대로 동작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66928" y="4114800"/>
          <a:ext cx="1106424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2011680"/>
                <a:gridCol w="603504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리스크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영향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대응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은행 고유 양식이 판독 학습 범위 밖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필드 추출 실패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문서유형 스키마 추가로 흡수 · 실패해도 '미확인'으로 드러나 오판이 되지 않음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사내 LLM 으로 교체 시 판독 품질 차이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추출 정확도 저하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모델 교체 가능한 구조 · haiku↔sonnet 교차 검증에서 판정 불일치 0건 (모델 의존 낮음)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법령·감독규정 개정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근거 조문 무효화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국가법령정보 API 재수집 · 규칙별 조문을 확정 선언해 두어 영향 범위를 즉시 특정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개인정보 우려로 도입 지연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현장 적용 차단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생년월일·계좌번호 미추출 · 원본 미저장 · 캐시 삭제 제공 · 마스킹 후 재현성 검증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기술 스택과 구현 현황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프로토타입은 실행 가능한 상태로 제출합니다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기술 실현 가능성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463040"/>
            <a:ext cx="3520440" cy="237744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463040"/>
            <a:ext cx="54864" cy="237744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609344"/>
            <a:ext cx="30632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문서 판독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PyMuPDF — 텍스트·단어 좌표 추출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Tesseract OCR (한국어) — 스캔·사진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Claude Vision — OCR 실패 시 폴백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PDF · JPG · PNG 지원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15968" y="1463040"/>
            <a:ext cx="3520440" cy="237744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15968" y="1463040"/>
            <a:ext cx="54864" cy="237744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609344"/>
            <a:ext cx="30632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이해·판정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Claude Haiku — 필드 추출 전담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결정론적 규칙 8종 (Python)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원문 대조 · 문서유형 스키마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판정에 LLM 관여 없음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65008" y="1463040"/>
            <a:ext cx="3566160" cy="237744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65008" y="1463040"/>
            <a:ext cx="54864" cy="237744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21040" y="1609344"/>
            <a:ext cx="31089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근거·화면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국가법령정보 Open API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규칙별 확정 근거 조문 + BM25 폴백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Streamlit — 검증 화면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결과 JSON 내보내기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66928" y="4114800"/>
          <a:ext cx="11064239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0"/>
                <a:gridCol w="3749039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구현 현황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상태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판독 파이프라인 (텍스트 → OCR → 비전)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완료 · 실물 25건 검증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검사 규칙 8종 + 법령 조문 매핑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완료 · 회귀 테스트 83건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검증 화면 (업로드 · 판정 · 하이라이트 · 내보내기)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완료 · 실행 가능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데모 패키지 (위반 3건 포함)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완료 · 위반 3건 전부 적발 확인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정리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위반을 잡는 것보다, 판정을 신뢰할 수 있게 만드는 데 집중했습니다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554480"/>
            <a:ext cx="3520440" cy="246888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54480"/>
            <a:ext cx="54864" cy="246888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700784"/>
            <a:ext cx="3063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① 문제에 맞는 접근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적합성 위반은 서류 하나로 정의되지 않는다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그래서 서류 간 교차 검증을 택했다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역대 본선작이 다루지 않은 지점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15968" y="1554480"/>
            <a:ext cx="3520440" cy="246888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15968" y="1554480"/>
            <a:ext cx="54864" cy="246888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700784"/>
            <a:ext cx="3063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② 규제 도구에 맞는 설계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판정은 규칙이 한다 — 재현 가능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AI가 지어낸 값은 판정에 쓰지 않는다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검사하지 않는 범위를 밝힌다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65008" y="1554480"/>
            <a:ext cx="3566160" cy="246888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65008" y="1554480"/>
            <a:ext cx="54864" cy="246888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40" y="1700784"/>
            <a:ext cx="31089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③ 실제 서류로 검증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5개사 25건 · 전자/스캔/스크린샷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정상 건은 통과, 위반 건만 적발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회귀 테스트로 고정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4389120"/>
            <a:ext cx="110642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1">
                <a:solidFill>
                  <a:srgbClr val="645B4C"/>
                </a:solidFill>
                <a:latin typeface="맑은 고딕"/>
              </a:rPr>
              <a:t>컴플라이언스 도구의 가치는 '많이 잡는 것'이 아니라 '틀리지 않는 것'입니다.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B2B2B"/>
                </a:solidFill>
                <a:latin typeface="맑은 고딕"/>
              </a:rPr>
              <a:t>이 프로토타입은 AI가 읽되 판정하지 않게 하고, 읽은 값이 원문에 실제로 있는지 대조하며, 확인하지 못한 것은 '미확인'으로 드러냅니다. 그 위에서만 자동화가 현장에 들어갈 수 있다고 보았습니다.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