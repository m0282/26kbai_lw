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645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</a:rPr>
              <a:t>금융상품 판매서류 컴플라이언스 검증 AI Copilot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CAF17"/>
                </a:solidFill>
                <a:latin typeface="맑은 고딕"/>
              </a:rPr>
              <a:t>불완전판매 위험을 '판매 전에' 잡아내는 결정론적 검증 엔진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8892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한 건의 판매에는 서류가 4종 있습니다. 위반은 서류 하나가 아니라 서류 사이에서 드러납니다.</a:t>
            </a:r>
          </a:p>
          <a:p>
            <a:pPr algn="l">
              <a:spcAft>
                <a:spcPts val="2000"/>
              </a:spcAft>
            </a:pPr>
            <a:r>
              <a:rPr sz="1400" b="0">
                <a:solidFill>
                  <a:srgbClr val="2B2B2B"/>
                </a:solidFill>
                <a:latin typeface="맑은 고딕"/>
              </a:rPr>
              <a:t>적합성 진단표의 '안정형'과 상품설명서의 '1등급'은 각각 보면 정상입니다. 두 서류를 맞대어야 비로소 부적합 판매가 보입니다.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맑은 고딕"/>
              </a:rPr>
              <a:t>제8회 KB Future Finance A.I. Challenge  |  팀명: (참가신청서 기재)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 정의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서류 하나만 보면 원리적으로 잡을 수 없는 위반이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위반은 서류 사이에 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진단표: 고객 투자성향 '안정형'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상품설명서: 위험등급 '1등급'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각 서류는 정상. 대조해야 위반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17조 적합성원칙 위반 소지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사람이 눈으로 대조한다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 1건 = 서류 4종 교차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성향·상품 등급·설명일·계약일·서명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건수가 쌓이면 누락이 발생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분쟁 시 입증 부담은 판매사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서류 형태가 제각각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전자 PDF · 스캔본 · 모바일 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비대면은 확인서가 계약서에 통합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위험등급이 표 안 체크(✓)로만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텍스트 추출만으로는 못 읽는다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88620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불완전판매가 성립하면 판매사는 배상·제재를 부담합니다. 그런데 위반의 상당수는 '서류 간 불일치'라, 서류를 한 장씩 검토하는 방식으로는 구조적으로 놓칩니다.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금융소비자보호법(2021 시행)은 적합성·설명의무 등 6대 판매원칙과 입증책임을 판매사에 부과합니다.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비대면 채널이 늘며 서류가 전자·통합 양식으로 다양해져, 사람이 형태별로 확인하는 부담이 커졌습니다.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기존 접근과의 차별점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역대 본선 진출작은 모두 '문서 하나' 또는 '규정↔규정'을 본다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657600"/>
                <a:gridCol w="310896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회차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대상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우리와의 차이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「cheKB」 계약서 독소조항 검토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계약서 1종 내부 조항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대조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「KB Sallow」 직원 맞춤 법률 비서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법령 검색·요약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제출 서류를 보지 않음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7회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금융 규제·법규 준수 모니터링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내부규정 ↔ 변경 규제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고객 판매 건이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컴플라이언스 Copilot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4종 ↔ 서류 4종 ↔ 법령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교차 검증 (신규)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977639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977639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23943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왜 교차 검증이 창의적인가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단일 문서 분석으로는 '적합성 위반'을 정의할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정보(진단표)와 상품 정보(설명서)가 다른 문서에 있기 때문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설명일 &gt; 계약일(선후 역전)도 두 문서를 봐야 성립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문제 자체가 교차 검증을 요구한다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977639"/>
            <a:ext cx="54864" cy="2148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123943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판정은 AI가 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LLM은 '읽기'만, 판정은 결정론적 규칙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서류·같은 정책이면 언제나 같은 결과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규제 도구에서 재현 불가능한 판정은 쓸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7회 입상작이 강조한 'XAI·근거 투명성'을 코드로 강제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솔루션 개요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판매 건 단위로 올리면, 8개 항목을 근거와 함께 판정한다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판매 건별 업로드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 계약 1건 = 칸 1개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진단표 · 상품설명서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가입신청서 · 설명확인서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스캔 · 스크린샷 모두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판독·구조화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텍스트 → OCR → AI 비전 단계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문서유형 자동 분류(수동 교정 가능)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필요한 값만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원문에 없는 값은 폐기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규칙 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8개 검사 항목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=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통과 / 주의 / 누락 / 위험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가장 보수적인 값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984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15984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④ 근거 제시·기록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관련 법령 조문 자동 검색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원문 위치 하이라이트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값의 출처(규칙/AI판독)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결과 JSON 내보내기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누가 쓰는가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창구·PB 담당자 — 판매 직후 '이 건에 빠진 서류·어긋난 값'을 즉시 확인해 사후 분쟁을 예방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컴플라이언스 부서 — 판매 건을 모아 점검하고, 판정 근거와 조문이 담긴 기록을 남김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도입 형태 — 사내 시스템에 붙는 검증 모듈. 판정 규칙은 KB 내부 기준으로 교체 가능하게 분리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아키텍처: LLM은 읽고, 규칙이 판정한다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규제 도구가 갖춰야 할 재현성을 구조로 보장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539496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286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왜 LLM에 판정을 맡기지 않는가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 판정은 같은 입력에도 결과가 흔들릴 수 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근거를 사후에 재현·감사하기 어렵다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LLM은 비정형 서류에서 '값을 읽는' 역할만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위반 여부는 코드로 작성된 규칙이 결정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63040"/>
            <a:ext cx="5458968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463040"/>
            <a:ext cx="54864" cy="22860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609344"/>
            <a:ext cx="500176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그 결과 얻는 것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서류·같은 정책 → 항상 같은 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근거를 조문·원문 위치까지 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규칙을 KB 내부 기준으로 교체해도 구조 불변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실측: 업로드 순서 24가지 → 판정 조합 1가지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402336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931920"/>
                <a:gridCol w="57607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계층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서류 → 텍스트·좌표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PyMuPDF · Tesseract OCR · LLM 비전(폴백)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추출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판정에 필요한 값만 구조화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 + 원문 대조 검증 + 문서유형 스키마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위반 여부 결정 (LLM 관여 없음)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결정론적 규칙 8종 (Python)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조문·원문 위치 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국가법령정보 API + BM25 조문 검색 + 좌표 하이라이트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①  AI가 지어낸 값을 판정에 쓰지 않는다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실물 서류에서 실제로 발생한 오류와, 이를 막은 방식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834640"/>
                <a:gridCol w="3200400"/>
                <a:gridCol w="20116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발생한 오류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원문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방어 장치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LLM이 위험등급 '5등급' 생성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원문에는 6등급만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후 미존재 값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6등급으로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상품명에 '(주가연계증권)' 삽입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'제 23129호 파생결합증권(ELS)'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표기로 복원, 겹침 부족 시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설명확인서를 상품설명서로 오분류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제목이 '상품설명 확인서'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규칙 분류가 확신하면 LLM보다 우선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고객확인·설명일 복구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약관의 '서명' 문구를 확인으로 오인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서명란은 실제로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페이지 이미지에서 서명 유무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미서명 적발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1차 · 원문 대조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추출값이 원문에 실제로 있는지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없으면 채택하지 않고 '미확인'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오판보다 미확인이 안전하다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2차 · 문서유형 게이팅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상품설명서에 계약일은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발행일을 계약일로 오인 차단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유형별로 가능한 필드를 고정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411480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261104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3차 · 고정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양식이면 항상 같은 필드 목록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못 찾은 값은 '미확인'으로 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값의 유무가 모델 변덕에 좌우되지 않음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②  어떤 형태로 와도 읽는다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텍스트 → OCR → AI 비전 단계 폴백 (필요할 때만 호출)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108960"/>
                <a:gridCol w="2103120"/>
                <a:gridCol w="27432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서류 형태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1차 판독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폴백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실측 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전자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레이어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스캔 PDF · 종이 촬영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Tesseract OCR(한국어)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분류·서명·날짜 모두 원본과 동일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모바일 다크모드 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OCR 오독('투자성향'→'투자성양')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'적극투자형'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위험등급이 표 체크(✓)로만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4등급·6등급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계약일이 표에 분리 기재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'년 월 일 24 07 2026'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2026-07-24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297680"/>
            <a:ext cx="53949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43984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비용을 쓰지 않는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한 페이지에 필요한 항목을 한 번에 질문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캐시로 같은 서류 재검증은 0원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실측: 패키지 1건당 약 76원 (모델 승격 0회)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297680"/>
            <a:ext cx="5458968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443984"/>
            <a:ext cx="50017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개인정보 최소화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생년월일·계좌번호는 애초에 추출하지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 프롬프트에서 개인정보 출력을 금지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원본 파일은 디스크에 저장하지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판독 캐시 즉시 삭제 기능 제공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검사 항목 8종과 근거 조문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무엇을 검사하는지, 그리고 무엇을 검사하지 않는지 밝힌다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5486400"/>
                <a:gridCol w="2103120"/>
                <a:gridCol w="21945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규칙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 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 문서로 가능?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투자성향 ↔ 상품 위험등급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17조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EXP-001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원금손실·위험등급·수수료 설명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설명일이 계약일보다 선행하는지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설명 확인·서명 증빙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PKG-001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서류 간 상품명·상품코드 동일성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원금보장·확정수익 등 부당권유 표현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21조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4종 구비 여부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23조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의무 대상 여부(고위험·고령·부적합)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28조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206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45B4C"/>
                </a:solidFill>
                <a:latin typeface="맑은 고딕"/>
              </a:rPr>
              <a:t>검사 범위를 화면에 명시합니다 — 적정성(18조)·불공정영업(20조)·광고(22조)는 대상이 아님을 밝힙니다.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녹취(REC-001)는 음성을 판독하지 않고 '녹취가 필요한 판매 건인지'만 표시합니다. 검사하지 못하는 것을 검사한 척하지 않는 것이 컴플라이언스 도구의 신뢰 조건입니다.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검증 결과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실제 금융사 서류로 검증했고, 회귀 테스트로 고정했다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24건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실물 서류 전수 감사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이상 0건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45건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자동화 회귀 테스트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전부 통과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1가지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업로드 순서 24가지 →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판정 조합 1가지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0건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교차 모델 판정 불일치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(haiku vs sonnet)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20040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76072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항목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 커버리지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5개 운용·증권사 / ETF·채권·MMF·ELS·DLS / 위험등급 1~6 / 전자·스캔·스크린샷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24건 전수 감사, 이상 징후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동일 패키지를 업로드 순서 24가지로 반복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조합 1가지 (순서 무관)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모델 의존성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haiku · sonnet 교차 실행 후 판정 임계 필드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불일치 0건 (저가 모델로 충분)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오탐 통제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부당권유 표현 스캔을 정상 서류 17건에 적용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오탐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정량 효과와 운영 비용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검증 시간과 API 비용을 실측 기준으로 제시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6304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2743200"/>
                <a:gridCol w="24688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수작업 기준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제안 시스템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1건(서류 4종)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60분 (문서당 15분 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10초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첫 처리 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재검증(같은 서류)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동일 시간 재소요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즉시 · API 비용 0원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결과 캐시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API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76원 / 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 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일 3,000건 환산(가정)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3,000시간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23만원 / 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규모 추정치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749039"/>
            <a:ext cx="53949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749039"/>
            <a:ext cx="54864" cy="2331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895343"/>
            <a:ext cx="49377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비용이 낮은 이유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코드가 하므로 LLM 호출이 적다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모델 승격(고가 모델) 발동 0회 — 저가 모델로 충분함을 교차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동일 서류 재검증은 캐시로 0원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749039"/>
            <a:ext cx="5458968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749039"/>
            <a:ext cx="54864" cy="233172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3895343"/>
            <a:ext cx="500176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효과는 시간 단축만이 아니다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놓치기 쉬운 '서류 간 불일치'를 기계가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근거(조문·원문 위치)가 함께 남아 사후 입증에 사용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시각·모델·적용 정책을 기록으로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 범위를 명시해 과신을 방지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시연 시나리오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심어둔 패키지는 전부 적발하고, 정상 건은 통과시킨다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5486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103120"/>
                <a:gridCol w="16459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위반 심은 패키지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정상 거래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(안정형 · 1등급)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 선후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(설명 07-15 &gt; 계약 07-12)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(미서명)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 부당권유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 서류구비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주의(비대면 통합)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 녹취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 (고위험·부적합)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355080" y="1371600"/>
            <a:ext cx="5276088" cy="2377440"/>
          </a:xfrm>
          <a:prstGeom prst="roundRect">
            <a:avLst/>
          </a:prstGeom>
          <a:solidFill>
            <a:srgbClr val="F5F3EE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맑은 고딕"/>
              </a:rPr>
              <a:t>[스크린샷] 판정 요약 화면
(위험 3건 적발 · 종합 결론 배지)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3886200"/>
            <a:ext cx="5276088" cy="2194560"/>
          </a:xfrm>
          <a:prstGeom prst="roundRect">
            <a:avLst/>
          </a:prstGeom>
          <a:solidFill>
            <a:srgbClr val="F5F3EE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맑은 고딕"/>
              </a:rPr>
              <a:t>[스크린샷] 근거 조문 + 서류 원문 하이라이트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977639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오탐을 내지 않는 것이 핵심입니다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 KB 판매 건을 넣으면 위험 0건으로 통과합니다. 위반을 심은 건만 정확히 잡습니다.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'다 잡아내는 것'보다 '정상을 정상이라 말하는 것'이 도입 가능성을 좌우합니다.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개발 계획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예선 이후 본선까지의 구체적 로드맵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개발 계획의 구체성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920240"/>
                <a:gridCol w="4572000"/>
                <a:gridCol w="28346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현재 (예선 제출)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핵심 파이프라인 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판독 3단 폴백 · 규칙 8종 · 근거 조문 · 하이라이트 · 결과 내보내기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24건 · 테스트 45건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1주차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 확대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적정성(18조) · 불공정영업(20조) · 광고(22조) 규칙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규칙별 회귀 테스트 · 정상 서류 오탐 0 유지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2주차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음성 업로드 + STT로 '원금손실 낭독 → 고객 동의'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샘플 녹취로 문구 검출률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3주차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규모 대응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배치 검증 · 기간별 위반 통계 · 부서별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수백 건 배치 처리 시간·정확도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도입 준비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은행 환경 정합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기준을 KB 내부 매트릭스로 교체 · 사내 LLM 대체 · 개인정보 마스킹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내부 기준 대조 · 마스킹 후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02920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45B4C"/>
                </a:solidFill>
                <a:latin typeface="맑은 고딕"/>
              </a:rPr>
              <a:t>설계상 확장이 쉬운 이유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규칙 1개 = 함수 1개. 서류를 받아 판정 하나를 돌려주는 구조라, 규칙 추가가 다른 규칙에 영향을 주지 않습니다.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법령 조문은 국가법령정보 API로 이미 수집돼 있어(금소법 73개 조문 포함) 추가 수집 없이 규칙을 늘릴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기술 스택과 구현 현황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프로토타입은 실행 가능한 상태로 제출합니다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문서 판독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PyMuPDF — 텍스트·단어 좌표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Tesseract OCR (한국어) — 스캔·사진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Vision — OCR 실패 시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JPG · PNG 지원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이해·판정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Haiku — 필드 추출 전담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8종 (Python)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 대조 · 문서유형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LLM 관여 없음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근거·화면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국가법령정보 Open API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BM25 조문 검색 (한국어 토크나이저)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Streamlit — 검증 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JSON 내보내기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4114800"/>
          <a:ext cx="1106423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/>
                <a:gridCol w="37490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구현 현황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판독 파이프라인 (텍스트 → OCR → 비전)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실물 24건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검사 규칙 8종 + 법령 조문 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회귀 테스트 45건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검증 화면 (업로드 · 판정 · 하이라이트 · 내보내기)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실행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데모 패키지 (위반 3건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위반 3건 전부 적발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정리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잡는 것보다, 판정을 신뢰할 수 있게 만드는 데 집중했습니다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문제에 맞는 접근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위반은 서류 하나로 정의되지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그래서 서류 간 교차 검증을 택했다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역대 본선작이 다루지 않은 지점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15968" y="1554480"/>
            <a:ext cx="54864" cy="2468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규제 도구에 맞는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규칙이 한다 —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AI가 지어낸 값은 판정에 쓰지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검사하지 않는 범위를 밝힌다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554480"/>
            <a:ext cx="35661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6500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700784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실제 서류로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5개사 24건 · 전자/스캔/스크린샷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정상 건은 통과, 위반 건만 적발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회귀 테스트로 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8912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컴플라이언스 도구의 가치는 '많이 잡는 것'이 아니라 '틀리지 않는 것'입니다.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프로토타입은 AI가 읽되 판정하지 않게 하고, 읽은 값이 원문에 실제로 있는지 대조하며, 확인하지 못한 것은 '미확인'으로 드러냅니다. 그 위에서만 자동화가 현장에 들어갈 수 있다고 보았습니다.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